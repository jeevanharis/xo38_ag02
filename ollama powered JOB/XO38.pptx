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1" i="0" u="none" strike="noStrike">
                <a:solidFill>
                  <a:srgbClr val="1E2761"/>
                </a:solidFill>
                <a:latin typeface="Calibri"/>
              </a:rPr>
              <a:t>Ranking Weight Breakdown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rgbClr val="4C6EF5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Required Skills
Coverage</c:v>
                  </c:pt>
                  <c:pt idx="1">
                    <c:v>Relevant
Experience</c:v>
                  </c:pt>
                  <c:pt idx="2">
                    <c:v>Evidence
Strength</c:v>
                  </c:pt>
                  <c:pt idx="3">
                    <c:v>Preferred
Skills</c:v>
                  </c:pt>
                  <c:pt idx="4">
                    <c:v>Education
Match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A1A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PS02  ·  AUTONOMOUS TALENT-ACQUISITION SCREENING AGENT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8745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ARIA Core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4612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evidence-grounded screening engine that decides how well-supported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claim is before it ever reaches a ranking.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709160"/>
            <a:ext cx="457200" cy="457200"/>
          </a:xfrm>
          <a:prstGeom prst="ellipse">
            <a:avLst/>
          </a:prstGeom>
          <a:solidFill>
            <a:srgbClr val="4C6EF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" y="4832604"/>
            <a:ext cx="210312" cy="2103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89888" y="4709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Two-Model Architecture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069080" y="4709160"/>
            <a:ext cx="457200" cy="457200"/>
          </a:xfrm>
          <a:prstGeom prst="ellipse">
            <a:avLst/>
          </a:prstGeom>
          <a:solidFill>
            <a:srgbClr val="4C6EF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2524" y="4832604"/>
            <a:ext cx="210312" cy="21031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36008" y="4709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Ranking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315200" y="4709160"/>
            <a:ext cx="457200" cy="457200"/>
          </a:xfrm>
          <a:prstGeom prst="ellipse">
            <a:avLst/>
          </a:prstGeom>
          <a:solidFill>
            <a:srgbClr val="4C6EF5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8644" y="4832604"/>
            <a:ext cx="210312" cy="21031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882128" y="4709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Memory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github.com/JeevanHaris/XO38_AG02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6702552" y="65105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Core  ·  XO38_AG02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 Matching Isn’t Screening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Recruiting teams process volumes of applications where claims are technically relevant but not well-supported.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20624" cy="420624"/>
          </a:xfrm>
          <a:prstGeom prst="ellipse">
            <a:avLst/>
          </a:prstGeom>
          <a:solidFill>
            <a:srgbClr val="E5484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208" y="2262408"/>
            <a:ext cx="193487" cy="19348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2121408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resume padding over genuine, demonstrated experience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3081528"/>
            <a:ext cx="420624" cy="420624"/>
          </a:xfrm>
          <a:prstGeom prst="ellipse">
            <a:avLst/>
          </a:prstGeom>
          <a:solidFill>
            <a:srgbClr val="E5484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08" y="3195096"/>
            <a:ext cx="193487" cy="19348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3054096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go unverified against the evidence in the same application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4014216"/>
            <a:ext cx="420624" cy="420624"/>
          </a:xfrm>
          <a:prstGeom prst="ellipse">
            <a:avLst/>
          </a:prstGeom>
          <a:solidFill>
            <a:srgbClr val="E5484D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208" y="4127784"/>
            <a:ext cx="193487" cy="19348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43000" y="3986784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can conflict — a “must-have” skill paired with junior-level experience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6446520" y="1691640"/>
            <a:ext cx="5166360" cy="4434840"/>
          </a:xfrm>
          <a:prstGeom prst="roundRect">
            <a:avLst>
              <a:gd name="adj" fmla="val 247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15" name="Text 10"/>
          <p:cNvSpPr txBox="1"/>
          <p:nvPr/>
        </p:nvSpPr>
        <p:spPr>
          <a:xfrm>
            <a:off x="6812280" y="20116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REASONING LOOP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812280" y="2514600"/>
            <a:ext cx="4434840" cy="566928"/>
          </a:xfrm>
          <a:prstGeom prst="roundRect">
            <a:avLst>
              <a:gd name="adj" fmla="val 12903"/>
            </a:avLst>
          </a:prstGeom>
          <a:solidFill>
            <a:srgbClr val="161C4D"/>
          </a:solidFill>
          <a:ln w="12700">
            <a:solidFill>
              <a:srgbClr val="4C6EF5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949440" y="25146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6E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7406640" y="251460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8947404" y="3081528"/>
            <a:ext cx="164592" cy="182880"/>
          </a:xfrm>
          <a:prstGeom prst="downArrow">
            <a:avLst/>
          </a:prstGeom>
          <a:solidFill>
            <a:srgbClr val="4C6EF5"/>
          </a:solidFill>
          <a:ln/>
        </p:spPr>
      </p:sp>
      <p:sp>
        <p:nvSpPr>
          <p:cNvPr id="20" name="Shape 15"/>
          <p:cNvSpPr/>
          <p:nvPr/>
        </p:nvSpPr>
        <p:spPr>
          <a:xfrm>
            <a:off x="6812280" y="3264408"/>
            <a:ext cx="4434840" cy="566928"/>
          </a:xfrm>
          <a:prstGeom prst="roundRect">
            <a:avLst>
              <a:gd name="adj" fmla="val 12903"/>
            </a:avLst>
          </a:prstGeom>
          <a:solidFill>
            <a:srgbClr val="161C4D"/>
          </a:solidFill>
          <a:ln w="12700">
            <a:solidFill>
              <a:srgbClr val="4C6EF5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949440" y="326440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6E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7406640" y="3264408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8947404" y="3831336"/>
            <a:ext cx="164592" cy="182880"/>
          </a:xfrm>
          <a:prstGeom prst="downArrow">
            <a:avLst/>
          </a:prstGeom>
          <a:solidFill>
            <a:srgbClr val="4C6EF5"/>
          </a:solidFill>
          <a:ln/>
        </p:spPr>
      </p:sp>
      <p:sp>
        <p:nvSpPr>
          <p:cNvPr id="24" name="Shape 19"/>
          <p:cNvSpPr/>
          <p:nvPr/>
        </p:nvSpPr>
        <p:spPr>
          <a:xfrm>
            <a:off x="6812280" y="4014216"/>
            <a:ext cx="4434840" cy="566928"/>
          </a:xfrm>
          <a:prstGeom prst="roundRect">
            <a:avLst>
              <a:gd name="adj" fmla="val 12903"/>
            </a:avLst>
          </a:prstGeom>
          <a:solidFill>
            <a:srgbClr val="161C4D"/>
          </a:solidFill>
          <a:ln w="12700">
            <a:solidFill>
              <a:srgbClr val="4C6EF5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6949440" y="401421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6E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7406640" y="4014216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8947404" y="4581144"/>
            <a:ext cx="164592" cy="182880"/>
          </a:xfrm>
          <a:prstGeom prst="downArrow">
            <a:avLst/>
          </a:prstGeom>
          <a:solidFill>
            <a:srgbClr val="4C6EF5"/>
          </a:solidFill>
          <a:ln/>
        </p:spPr>
      </p:sp>
      <p:sp>
        <p:nvSpPr>
          <p:cNvPr id="28" name="Shape 23"/>
          <p:cNvSpPr/>
          <p:nvPr/>
        </p:nvSpPr>
        <p:spPr>
          <a:xfrm>
            <a:off x="6812280" y="4764024"/>
            <a:ext cx="4434840" cy="566928"/>
          </a:xfrm>
          <a:prstGeom prst="roundRect">
            <a:avLst>
              <a:gd name="adj" fmla="val 12903"/>
            </a:avLst>
          </a:prstGeom>
          <a:solidFill>
            <a:srgbClr val="161C4D"/>
          </a:solidFill>
          <a:ln w="12700">
            <a:solidFill>
              <a:srgbClr val="4C6EF5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6949440" y="476402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6E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5"/>
          <p:cNvSpPr txBox="1"/>
          <p:nvPr/>
        </p:nvSpPr>
        <p:spPr>
          <a:xfrm>
            <a:off x="7406640" y="4764024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500" dirty="0"/>
          </a:p>
        </p:txBody>
      </p:sp>
      <p:sp>
        <p:nvSpPr>
          <p:cNvPr id="31" name="Text 26"/>
          <p:cNvSpPr txBox="1"/>
          <p:nvPr/>
        </p:nvSpPr>
        <p:spPr>
          <a:xfrm>
            <a:off x="6812280" y="542239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is traced through this loop before it counts toward a score.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Approach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6702552" y="65105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Core  ·  XO38_AG02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Router: Two Models, One Pipeline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Llama 3.2 handles routine extraction; Groq’s cloud-hosted 70B model reasons about trade-offs — no need to keep multiple heavy models loaded in VRAM.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2834640" cy="603504"/>
          </a:xfrm>
          <a:prstGeom prst="roundRect">
            <a:avLst>
              <a:gd name="adj" fmla="val 12121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" y="1975104"/>
            <a:ext cx="365760" cy="365760"/>
          </a:xfrm>
          <a:prstGeom prst="ellipse">
            <a:avLst/>
          </a:prstGeom>
          <a:solidFill>
            <a:srgbClr val="4C6EF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2073859"/>
            <a:ext cx="168250" cy="16825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87452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 API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721608" y="2093976"/>
            <a:ext cx="374904" cy="164592"/>
          </a:xfrm>
          <a:prstGeom prst="rightArrow">
            <a:avLst/>
          </a:prstGeom>
          <a:solidFill>
            <a:srgbClr val="4C6EF5"/>
          </a:solidFill>
          <a:ln/>
        </p:spPr>
      </p:sp>
      <p:sp>
        <p:nvSpPr>
          <p:cNvPr id="9" name="Shape 6"/>
          <p:cNvSpPr/>
          <p:nvPr/>
        </p:nvSpPr>
        <p:spPr>
          <a:xfrm>
            <a:off x="4160520" y="1874520"/>
            <a:ext cx="2834640" cy="603504"/>
          </a:xfrm>
          <a:prstGeom prst="roundRect">
            <a:avLst>
              <a:gd name="adj" fmla="val 12121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4270248" y="1975104"/>
            <a:ext cx="365760" cy="365760"/>
          </a:xfrm>
          <a:prstGeom prst="ellipse">
            <a:avLst/>
          </a:prstGeom>
          <a:solidFill>
            <a:srgbClr val="4C6EF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9003" y="2073859"/>
            <a:ext cx="168250" cy="16825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09160" y="187452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059168" y="2093976"/>
            <a:ext cx="374904" cy="164592"/>
          </a:xfrm>
          <a:prstGeom prst="rightArrow">
            <a:avLst/>
          </a:prstGeom>
          <a:solidFill>
            <a:srgbClr val="4C6EF5"/>
          </a:solidFill>
          <a:ln/>
        </p:spPr>
      </p:sp>
      <p:sp>
        <p:nvSpPr>
          <p:cNvPr id="14" name="Shape 10"/>
          <p:cNvSpPr/>
          <p:nvPr/>
        </p:nvSpPr>
        <p:spPr>
          <a:xfrm>
            <a:off x="7498080" y="1874520"/>
            <a:ext cx="2834640" cy="603504"/>
          </a:xfrm>
          <a:prstGeom prst="roundRect">
            <a:avLst>
              <a:gd name="adj" fmla="val 12121"/>
            </a:avLst>
          </a:prstGeom>
          <a:solidFill>
            <a:srgbClr val="1E2761"/>
          </a:solidFill>
          <a:ln/>
        </p:spPr>
      </p:sp>
      <p:sp>
        <p:nvSpPr>
          <p:cNvPr id="15" name="Shape 11"/>
          <p:cNvSpPr/>
          <p:nvPr/>
        </p:nvSpPr>
        <p:spPr>
          <a:xfrm>
            <a:off x="7607808" y="1975104"/>
            <a:ext cx="365760" cy="365760"/>
          </a:xfrm>
          <a:prstGeom prst="ellipse">
            <a:avLst/>
          </a:prstGeom>
          <a:solidFill>
            <a:srgbClr val="4C6EF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6563" y="2073859"/>
            <a:ext cx="168250" cy="16825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46720" y="187452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Router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8833104" y="2551176"/>
            <a:ext cx="164592" cy="274320"/>
          </a:xfrm>
          <a:prstGeom prst="downArrow">
            <a:avLst/>
          </a:prstGeom>
          <a:solidFill>
            <a:srgbClr val="4C6EF5"/>
          </a:solidFill>
          <a:ln/>
        </p:spPr>
      </p:sp>
      <p:sp>
        <p:nvSpPr>
          <p:cNvPr id="19" name="Shape 14"/>
          <p:cNvSpPr/>
          <p:nvPr/>
        </p:nvSpPr>
        <p:spPr>
          <a:xfrm>
            <a:off x="676656" y="3008376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F5F7FC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05256" y="320954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3332988"/>
            <a:ext cx="210312" cy="21031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45336" y="31729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3.2 — Local GPU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1545336" y="3538728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–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parsing &amp; resume extraction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–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extraction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–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evidence checks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–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summaries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391656" y="3008376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F5F7FC"/>
          </a:solidFill>
          <a:ln w="15875">
            <a:solidFill>
              <a:srgbClr val="4C6EF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620256" y="3209544"/>
            <a:ext cx="457200" cy="457200"/>
          </a:xfrm>
          <a:prstGeom prst="ellipse">
            <a:avLst/>
          </a:prstGeom>
          <a:solidFill>
            <a:srgbClr val="4C6EF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3700" y="3332988"/>
            <a:ext cx="210312" cy="21031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260336" y="31729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3.3 70B — Cloud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7260336" y="3538728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–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Candidate-vs-candidate comparison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–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analysis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–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gap reasoning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–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Nuanced evidence evaluation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833104" y="4818888"/>
            <a:ext cx="164592" cy="274320"/>
          </a:xfrm>
          <a:prstGeom prst="downArrow">
            <a:avLst/>
          </a:prstGeom>
          <a:solidFill>
            <a:srgbClr val="4C6EF5"/>
          </a:solidFill>
          <a:ln/>
        </p:spPr>
      </p:sp>
      <p:sp>
        <p:nvSpPr>
          <p:cNvPr id="30" name="Shape 23"/>
          <p:cNvSpPr/>
          <p:nvPr/>
        </p:nvSpPr>
        <p:spPr>
          <a:xfrm>
            <a:off x="822960" y="5276088"/>
            <a:ext cx="2834640" cy="603504"/>
          </a:xfrm>
          <a:prstGeom prst="roundRect">
            <a:avLst>
              <a:gd name="adj" fmla="val 12121"/>
            </a:avLst>
          </a:prstGeom>
          <a:solidFill>
            <a:srgbClr val="161C4D"/>
          </a:solidFill>
          <a:ln/>
        </p:spPr>
      </p:sp>
      <p:sp>
        <p:nvSpPr>
          <p:cNvPr id="31" name="Shape 24"/>
          <p:cNvSpPr/>
          <p:nvPr/>
        </p:nvSpPr>
        <p:spPr>
          <a:xfrm>
            <a:off x="932688" y="5376672"/>
            <a:ext cx="365760" cy="365760"/>
          </a:xfrm>
          <a:prstGeom prst="ellipse">
            <a:avLst/>
          </a:prstGeom>
          <a:solidFill>
            <a:srgbClr val="4C6EF5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" y="5475427"/>
            <a:ext cx="168250" cy="16825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371600" y="5276088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Verification</a:t>
            </a:r>
            <a:endParaRPr lang="en-US" sz="1250" dirty="0"/>
          </a:p>
        </p:txBody>
      </p:sp>
      <p:sp>
        <p:nvSpPr>
          <p:cNvPr id="34" name="Shape 26"/>
          <p:cNvSpPr/>
          <p:nvPr/>
        </p:nvSpPr>
        <p:spPr>
          <a:xfrm>
            <a:off x="3721608" y="5495544"/>
            <a:ext cx="374904" cy="164592"/>
          </a:xfrm>
          <a:prstGeom prst="rightArrow">
            <a:avLst/>
          </a:prstGeom>
          <a:solidFill>
            <a:srgbClr val="4C6EF5"/>
          </a:solidFill>
          <a:ln/>
        </p:spPr>
      </p:sp>
      <p:sp>
        <p:nvSpPr>
          <p:cNvPr id="35" name="Shape 27"/>
          <p:cNvSpPr/>
          <p:nvPr/>
        </p:nvSpPr>
        <p:spPr>
          <a:xfrm>
            <a:off x="4160520" y="5276088"/>
            <a:ext cx="2834640" cy="603504"/>
          </a:xfrm>
          <a:prstGeom prst="roundRect">
            <a:avLst>
              <a:gd name="adj" fmla="val 12121"/>
            </a:avLst>
          </a:prstGeom>
          <a:solidFill>
            <a:srgbClr val="161C4D"/>
          </a:solidFill>
          <a:ln/>
        </p:spPr>
      </p:sp>
      <p:sp>
        <p:nvSpPr>
          <p:cNvPr id="36" name="Shape 28"/>
          <p:cNvSpPr/>
          <p:nvPr/>
        </p:nvSpPr>
        <p:spPr>
          <a:xfrm>
            <a:off x="4270248" y="5376672"/>
            <a:ext cx="365760" cy="365760"/>
          </a:xfrm>
          <a:prstGeom prst="ellipse">
            <a:avLst/>
          </a:prstGeom>
          <a:solidFill>
            <a:srgbClr val="4C6EF5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9003" y="5475427"/>
            <a:ext cx="168250" cy="16825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4709160" y="5276088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Engine</a:t>
            </a:r>
            <a:endParaRPr lang="en-US" sz="1250" dirty="0"/>
          </a:p>
        </p:txBody>
      </p:sp>
      <p:sp>
        <p:nvSpPr>
          <p:cNvPr id="39" name="Shape 30"/>
          <p:cNvSpPr/>
          <p:nvPr/>
        </p:nvSpPr>
        <p:spPr>
          <a:xfrm>
            <a:off x="7059168" y="5495544"/>
            <a:ext cx="374904" cy="164592"/>
          </a:xfrm>
          <a:prstGeom prst="rightArrow">
            <a:avLst/>
          </a:prstGeom>
          <a:solidFill>
            <a:srgbClr val="4C6EF5"/>
          </a:solidFill>
          <a:ln/>
        </p:spPr>
      </p:sp>
      <p:sp>
        <p:nvSpPr>
          <p:cNvPr id="40" name="Shape 31"/>
          <p:cNvSpPr/>
          <p:nvPr/>
        </p:nvSpPr>
        <p:spPr>
          <a:xfrm>
            <a:off x="7498080" y="5276088"/>
            <a:ext cx="2834640" cy="603504"/>
          </a:xfrm>
          <a:prstGeom prst="roundRect">
            <a:avLst>
              <a:gd name="adj" fmla="val 12121"/>
            </a:avLst>
          </a:prstGeom>
          <a:solidFill>
            <a:srgbClr val="161C4D"/>
          </a:solidFill>
          <a:ln/>
        </p:spPr>
      </p:sp>
      <p:sp>
        <p:nvSpPr>
          <p:cNvPr id="41" name="Shape 32"/>
          <p:cNvSpPr/>
          <p:nvPr/>
        </p:nvSpPr>
        <p:spPr>
          <a:xfrm>
            <a:off x="7607808" y="5376672"/>
            <a:ext cx="365760" cy="365760"/>
          </a:xfrm>
          <a:prstGeom prst="ellipse">
            <a:avLst/>
          </a:prstGeom>
          <a:solidFill>
            <a:srgbClr val="4C6EF5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06563" y="5475427"/>
            <a:ext cx="168250" cy="168250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8046720" y="5276088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Memory</a:t>
            </a:r>
            <a:endParaRPr lang="en-US" sz="1250" dirty="0"/>
          </a:p>
        </p:txBody>
      </p:sp>
      <p:sp>
        <p:nvSpPr>
          <p:cNvPr id="44" name="Text 34"/>
          <p:cNvSpPr txBox="1"/>
          <p:nvPr/>
        </p:nvSpPr>
        <p:spPr>
          <a:xfrm>
            <a:off x="822960" y="61996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extraction stays local and free — complex reasoning routes to the cloud only when it’s actually needed.</a:t>
            </a:r>
            <a:endParaRPr lang="en-US" sz="1250" dirty="0"/>
          </a:p>
        </p:txBody>
      </p:sp>
      <p:sp>
        <p:nvSpPr>
          <p:cNvPr id="45" name="Text 3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46" name="Text 36"/>
          <p:cNvSpPr/>
          <p:nvPr/>
        </p:nvSpPr>
        <p:spPr>
          <a:xfrm>
            <a:off x="6702552" y="65105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Core  ·  XO38_AG02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Claim Gets a Confidence Tier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“does the candidate know Python” — what evidence in the application actually supports it.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1228" y="1874520"/>
            <a:ext cx="2542032" cy="3794760"/>
          </a:xfrm>
          <a:prstGeom prst="roundRect">
            <a:avLst>
              <a:gd name="adj" fmla="val 359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86484" y="2286000"/>
            <a:ext cx="731520" cy="731520"/>
          </a:xfrm>
          <a:prstGeom prst="ellipse">
            <a:avLst/>
          </a:prstGeom>
          <a:solidFill>
            <a:srgbClr val="2F9E4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994" y="2483510"/>
            <a:ext cx="336499" cy="33649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45820" y="329184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 Supported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937260" y="3931920"/>
            <a:ext cx="2029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evidence — certification plus a production project or work experience.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42716" y="1874520"/>
            <a:ext cx="2542032" cy="3794760"/>
          </a:xfrm>
          <a:prstGeom prst="roundRect">
            <a:avLst>
              <a:gd name="adj" fmla="val 359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47972" y="2286000"/>
            <a:ext cx="731520" cy="7315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5482" y="2483510"/>
            <a:ext cx="336499" cy="33649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07308" y="329184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Supported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3698748" y="3931920"/>
            <a:ext cx="2029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Mentioned only in the skills section, with no project or work evidence.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04204" y="1874520"/>
            <a:ext cx="2542032" cy="3794760"/>
          </a:xfrm>
          <a:prstGeom prst="roundRect">
            <a:avLst>
              <a:gd name="adj" fmla="val 359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09460" y="2286000"/>
            <a:ext cx="731520" cy="731520"/>
          </a:xfrm>
          <a:prstGeom prst="ellipse">
            <a:avLst/>
          </a:prstGeom>
          <a:solidFill>
            <a:srgbClr val="E5484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970" y="2483510"/>
            <a:ext cx="336499" cy="33649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68796" y="329184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6460236" y="3931920"/>
            <a:ext cx="2029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Claimed, but contradicted or unevidenced anywhere in the application.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965692" y="1874520"/>
            <a:ext cx="2542032" cy="3794760"/>
          </a:xfrm>
          <a:prstGeom prst="roundRect">
            <a:avLst>
              <a:gd name="adj" fmla="val 359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870948" y="2286000"/>
            <a:ext cx="731520" cy="731520"/>
          </a:xfrm>
          <a:prstGeom prst="ellipse">
            <a:avLst/>
          </a:prstGeom>
          <a:solidFill>
            <a:srgbClr val="9CA3A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8458" y="2483510"/>
            <a:ext cx="336499" cy="33649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30284" y="329184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Mentioned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9221724" y="3931920"/>
            <a:ext cx="2029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 simply isn’t present in the candidate’s application.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Verification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6702552" y="65105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Core  ·  XO38_AG02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Scores Come From Python, Not the LLM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ranking layer keeps the final numbers free of LLM hallucination.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691640"/>
          <a:ext cx="60350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1691640"/>
            <a:ext cx="4800600" cy="4480560"/>
          </a:xfrm>
          <a:prstGeom prst="roundRect">
            <a:avLst>
              <a:gd name="adj" fmla="val 204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178040" y="2011680"/>
            <a:ext cx="502920" cy="502920"/>
          </a:xfrm>
          <a:prstGeom prst="ellipse">
            <a:avLst/>
          </a:prstGeom>
          <a:solidFill>
            <a:srgbClr val="4C6EF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3828" y="2147468"/>
            <a:ext cx="231343" cy="23134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818120" y="201168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Recruiter Chat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7178040" y="269748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job, candidate, evidence tier, score, and trade-off note is persisted in SQLite.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7178040" y="3520440"/>
            <a:ext cx="3794760" cy="548640"/>
          </a:xfrm>
          <a:prstGeom prst="roundRect">
            <a:avLst>
              <a:gd name="adj" fmla="val 16667"/>
            </a:avLst>
          </a:prstGeom>
          <a:solidFill>
            <a:srgbClr val="161C4D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360920" y="352044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is Candidate A ranked above Candidate B?”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7543800" y="4206240"/>
            <a:ext cx="3794760" cy="1234440"/>
          </a:xfrm>
          <a:prstGeom prst="roundRect">
            <a:avLst>
              <a:gd name="adj" fmla="val 7407"/>
            </a:avLst>
          </a:prstGeom>
          <a:solidFill>
            <a:srgbClr val="4C6EF5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726680" y="429768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instantly from memory — candidate scores, evidence tiers, and trade-off notes are pulled directly, with no pipeline re-run.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&amp; Memory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702552" y="65105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Core  ·  XO38_AG02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Run, Built to Demo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stack — no heavy embedding models, no vector database overhead.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88136" y="1783080"/>
            <a:ext cx="640080" cy="640080"/>
          </a:xfrm>
          <a:prstGeom prst="ellipse">
            <a:avLst/>
          </a:prstGeom>
          <a:solidFill>
            <a:srgbClr val="4C6EF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0958" y="1955902"/>
            <a:ext cx="294437" cy="29443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2356" y="2560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962656" y="1783080"/>
            <a:ext cx="640080" cy="640080"/>
          </a:xfrm>
          <a:prstGeom prst="ellipse">
            <a:avLst/>
          </a:prstGeom>
          <a:solidFill>
            <a:srgbClr val="4C6EF5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478" y="1955902"/>
            <a:ext cx="294437" cy="29443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436876" y="2560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3.2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837176" y="1783080"/>
            <a:ext cx="640080" cy="640080"/>
          </a:xfrm>
          <a:prstGeom prst="ellipse">
            <a:avLst/>
          </a:prstGeom>
          <a:solidFill>
            <a:srgbClr val="4C6EF5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998" y="1955902"/>
            <a:ext cx="294437" cy="29443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311396" y="2560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6711696" y="1783080"/>
            <a:ext cx="640080" cy="640080"/>
          </a:xfrm>
          <a:prstGeom prst="ellipse">
            <a:avLst/>
          </a:prstGeom>
          <a:solidFill>
            <a:srgbClr val="4C6EF5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4518" y="1955902"/>
            <a:ext cx="294437" cy="29443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185916" y="2560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8586216" y="1783080"/>
            <a:ext cx="640080" cy="640080"/>
          </a:xfrm>
          <a:prstGeom prst="ellipse">
            <a:avLst/>
          </a:prstGeom>
          <a:solidFill>
            <a:srgbClr val="4C6EF5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9038" y="1955902"/>
            <a:ext cx="294437" cy="294437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060436" y="2560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10460736" y="1783080"/>
            <a:ext cx="640080" cy="640080"/>
          </a:xfrm>
          <a:prstGeom prst="ellipse">
            <a:avLst/>
          </a:prstGeom>
          <a:solidFill>
            <a:srgbClr val="4C6EF5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33558" y="1955902"/>
            <a:ext cx="294437" cy="294437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9934956" y="2560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200" dirty="0"/>
          </a:p>
        </p:txBody>
      </p:sp>
      <p:sp>
        <p:nvSpPr>
          <p:cNvPr id="22" name="Text 14"/>
          <p:cNvSpPr txBox="1"/>
          <p:nvPr/>
        </p:nvSpPr>
        <p:spPr>
          <a:xfrm>
            <a:off x="548640" y="3063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FLOW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539496" y="347472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161C4D"/>
          </a:solidFill>
          <a:ln w="12700">
            <a:solidFill>
              <a:srgbClr val="4C6EF5"/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649224" y="347472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6E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Text 17"/>
          <p:cNvSpPr txBox="1"/>
          <p:nvPr/>
        </p:nvSpPr>
        <p:spPr>
          <a:xfrm>
            <a:off x="950976" y="34747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JD</a:t>
            </a:r>
            <a:endParaRPr lang="en-US" sz="1150" dirty="0"/>
          </a:p>
        </p:txBody>
      </p:sp>
      <p:sp>
        <p:nvSpPr>
          <p:cNvPr id="26" name="Shape 18"/>
          <p:cNvSpPr/>
          <p:nvPr/>
        </p:nvSpPr>
        <p:spPr>
          <a:xfrm>
            <a:off x="2551176" y="3776472"/>
            <a:ext cx="228600" cy="91440"/>
          </a:xfrm>
          <a:prstGeom prst="rightArrow">
            <a:avLst/>
          </a:prstGeom>
          <a:solidFill>
            <a:srgbClr val="4C6EF5"/>
          </a:solidFill>
          <a:ln/>
        </p:spPr>
      </p:sp>
      <p:sp>
        <p:nvSpPr>
          <p:cNvPr id="27" name="Shape 19"/>
          <p:cNvSpPr/>
          <p:nvPr/>
        </p:nvSpPr>
        <p:spPr>
          <a:xfrm>
            <a:off x="2825496" y="347472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161C4D"/>
          </a:solidFill>
          <a:ln w="12700">
            <a:solidFill>
              <a:srgbClr val="4C6EF5"/>
            </a:solidFill>
            <a:prstDash val="solid"/>
          </a:ln>
        </p:spPr>
      </p:sp>
      <p:sp>
        <p:nvSpPr>
          <p:cNvPr id="28" name="Text 20"/>
          <p:cNvSpPr txBox="1"/>
          <p:nvPr/>
        </p:nvSpPr>
        <p:spPr>
          <a:xfrm>
            <a:off x="2935224" y="347472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6E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21"/>
          <p:cNvSpPr txBox="1"/>
          <p:nvPr/>
        </p:nvSpPr>
        <p:spPr>
          <a:xfrm>
            <a:off x="3236976" y="34747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Resumes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4837176" y="3776472"/>
            <a:ext cx="228600" cy="91440"/>
          </a:xfrm>
          <a:prstGeom prst="rightArrow">
            <a:avLst/>
          </a:prstGeom>
          <a:solidFill>
            <a:srgbClr val="4C6EF5"/>
          </a:solidFill>
          <a:ln/>
        </p:spPr>
      </p:sp>
      <p:sp>
        <p:nvSpPr>
          <p:cNvPr id="31" name="Shape 23"/>
          <p:cNvSpPr/>
          <p:nvPr/>
        </p:nvSpPr>
        <p:spPr>
          <a:xfrm>
            <a:off x="5111496" y="347472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161C4D"/>
          </a:solidFill>
          <a:ln w="12700">
            <a:solidFill>
              <a:srgbClr val="4C6EF5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5221224" y="347472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6E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5522976" y="34747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7123176" y="3776472"/>
            <a:ext cx="228600" cy="91440"/>
          </a:xfrm>
          <a:prstGeom prst="rightArrow">
            <a:avLst/>
          </a:prstGeom>
          <a:solidFill>
            <a:srgbClr val="4C6EF5"/>
          </a:solidFill>
          <a:ln/>
        </p:spPr>
      </p:sp>
      <p:sp>
        <p:nvSpPr>
          <p:cNvPr id="35" name="Shape 27"/>
          <p:cNvSpPr/>
          <p:nvPr/>
        </p:nvSpPr>
        <p:spPr>
          <a:xfrm>
            <a:off x="7397496" y="347472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161C4D"/>
          </a:solidFill>
          <a:ln w="12700">
            <a:solidFill>
              <a:srgbClr val="4C6EF5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7507224" y="347472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6E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29"/>
          <p:cNvSpPr txBox="1"/>
          <p:nvPr/>
        </p:nvSpPr>
        <p:spPr>
          <a:xfrm>
            <a:off x="7808976" y="34747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&amp; Rank</a:t>
            </a:r>
            <a:endParaRPr lang="en-US" sz="1150" dirty="0"/>
          </a:p>
        </p:txBody>
      </p:sp>
      <p:sp>
        <p:nvSpPr>
          <p:cNvPr id="38" name="Shape 30"/>
          <p:cNvSpPr/>
          <p:nvPr/>
        </p:nvSpPr>
        <p:spPr>
          <a:xfrm>
            <a:off x="9409176" y="3776472"/>
            <a:ext cx="228600" cy="91440"/>
          </a:xfrm>
          <a:prstGeom prst="rightArrow">
            <a:avLst/>
          </a:prstGeom>
          <a:solidFill>
            <a:srgbClr val="4C6EF5"/>
          </a:solidFill>
          <a:ln/>
        </p:spPr>
      </p:sp>
      <p:sp>
        <p:nvSpPr>
          <p:cNvPr id="39" name="Shape 31"/>
          <p:cNvSpPr/>
          <p:nvPr/>
        </p:nvSpPr>
        <p:spPr>
          <a:xfrm>
            <a:off x="9683496" y="347472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161C4D"/>
          </a:solidFill>
          <a:ln w="12700">
            <a:solidFill>
              <a:srgbClr val="4C6EF5"/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9793224" y="347472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6E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41" name="Text 33"/>
          <p:cNvSpPr txBox="1"/>
          <p:nvPr/>
        </p:nvSpPr>
        <p:spPr>
          <a:xfrm>
            <a:off x="10094976" y="34747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Gaps</a:t>
            </a:r>
            <a:endParaRPr lang="en-US" sz="1150" dirty="0"/>
          </a:p>
        </p:txBody>
      </p:sp>
      <p:sp>
        <p:nvSpPr>
          <p:cNvPr id="42" name="Text 34"/>
          <p:cNvSpPr txBox="1"/>
          <p:nvPr/>
        </p:nvSpPr>
        <p:spPr>
          <a:xfrm>
            <a:off x="548640" y="4617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ENDPOINTS</a:t>
            </a:r>
            <a:endParaRPr lang="en-US" sz="1200" dirty="0"/>
          </a:p>
        </p:txBody>
      </p:sp>
      <p:sp>
        <p:nvSpPr>
          <p:cNvPr id="43" name="Shape 35"/>
          <p:cNvSpPr/>
          <p:nvPr/>
        </p:nvSpPr>
        <p:spPr>
          <a:xfrm>
            <a:off x="548640" y="5029200"/>
            <a:ext cx="1271016" cy="365760"/>
          </a:xfrm>
          <a:prstGeom prst="roundRect">
            <a:avLst>
              <a:gd name="adj" fmla="val 50000"/>
            </a:avLst>
          </a:prstGeom>
          <a:solidFill>
            <a:srgbClr val="161C4D"/>
          </a:solidFill>
          <a:ln w="9525">
            <a:solidFill>
              <a:srgbClr val="4C6EF5"/>
            </a:solidFill>
            <a:prstDash val="solid"/>
          </a:ln>
        </p:spPr>
      </p:sp>
      <p:sp>
        <p:nvSpPr>
          <p:cNvPr id="44" name="Text 36"/>
          <p:cNvSpPr txBox="1"/>
          <p:nvPr/>
        </p:nvSpPr>
        <p:spPr>
          <a:xfrm>
            <a:off x="548640" y="5029200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/upload-jd</a:t>
            </a:r>
            <a:endParaRPr lang="en-US" sz="1050" dirty="0"/>
          </a:p>
        </p:txBody>
      </p:sp>
      <p:sp>
        <p:nvSpPr>
          <p:cNvPr id="45" name="Shape 37"/>
          <p:cNvSpPr/>
          <p:nvPr/>
        </p:nvSpPr>
        <p:spPr>
          <a:xfrm>
            <a:off x="1984248" y="502920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161C4D"/>
          </a:solidFill>
          <a:ln w="9525">
            <a:solidFill>
              <a:srgbClr val="4C6EF5"/>
            </a:solidFill>
            <a:prstDash val="solid"/>
          </a:ln>
        </p:spPr>
      </p:sp>
      <p:sp>
        <p:nvSpPr>
          <p:cNvPr id="46" name="Text 38"/>
          <p:cNvSpPr txBox="1"/>
          <p:nvPr/>
        </p:nvSpPr>
        <p:spPr>
          <a:xfrm>
            <a:off x="1984248" y="5029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/upload-resumes</a:t>
            </a:r>
            <a:endParaRPr lang="en-US" sz="1050" dirty="0"/>
          </a:p>
        </p:txBody>
      </p:sp>
      <p:sp>
        <p:nvSpPr>
          <p:cNvPr id="47" name="Shape 39"/>
          <p:cNvSpPr/>
          <p:nvPr/>
        </p:nvSpPr>
        <p:spPr>
          <a:xfrm>
            <a:off x="3794760" y="5029200"/>
            <a:ext cx="1121054" cy="365760"/>
          </a:xfrm>
          <a:prstGeom prst="roundRect">
            <a:avLst>
              <a:gd name="adj" fmla="val 50000"/>
            </a:avLst>
          </a:prstGeom>
          <a:solidFill>
            <a:srgbClr val="161C4D"/>
          </a:solidFill>
          <a:ln w="9525">
            <a:solidFill>
              <a:srgbClr val="4C6EF5"/>
            </a:solidFill>
            <a:prstDash val="solid"/>
          </a:ln>
        </p:spPr>
      </p:sp>
      <p:sp>
        <p:nvSpPr>
          <p:cNvPr id="48" name="Text 40"/>
          <p:cNvSpPr txBox="1"/>
          <p:nvPr/>
        </p:nvSpPr>
        <p:spPr>
          <a:xfrm>
            <a:off x="3794760" y="5029200"/>
            <a:ext cx="11210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/analyze</a:t>
            </a:r>
            <a:endParaRPr lang="en-US" sz="1050" dirty="0"/>
          </a:p>
        </p:txBody>
      </p:sp>
      <p:sp>
        <p:nvSpPr>
          <p:cNvPr id="49" name="Shape 41"/>
          <p:cNvSpPr/>
          <p:nvPr/>
        </p:nvSpPr>
        <p:spPr>
          <a:xfrm>
            <a:off x="5080406" y="5029200"/>
            <a:ext cx="1720901" cy="365760"/>
          </a:xfrm>
          <a:prstGeom prst="roundRect">
            <a:avLst>
              <a:gd name="adj" fmla="val 50000"/>
            </a:avLst>
          </a:prstGeom>
          <a:solidFill>
            <a:srgbClr val="161C4D"/>
          </a:solidFill>
          <a:ln w="9525">
            <a:solidFill>
              <a:srgbClr val="4C6EF5"/>
            </a:solidFill>
            <a:prstDash val="solid"/>
          </a:ln>
        </p:spPr>
      </p:sp>
      <p:sp>
        <p:nvSpPr>
          <p:cNvPr id="50" name="Text 42"/>
          <p:cNvSpPr txBox="1"/>
          <p:nvPr/>
        </p:nvSpPr>
        <p:spPr>
          <a:xfrm>
            <a:off x="5080406" y="5029200"/>
            <a:ext cx="17209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/results/&lt;run_id&gt;</a:t>
            </a:r>
            <a:endParaRPr lang="en-US" sz="1050" dirty="0"/>
          </a:p>
        </p:txBody>
      </p:sp>
      <p:sp>
        <p:nvSpPr>
          <p:cNvPr id="51" name="Shape 43"/>
          <p:cNvSpPr/>
          <p:nvPr/>
        </p:nvSpPr>
        <p:spPr>
          <a:xfrm>
            <a:off x="6965899" y="5029200"/>
            <a:ext cx="1121054" cy="365760"/>
          </a:xfrm>
          <a:prstGeom prst="roundRect">
            <a:avLst>
              <a:gd name="adj" fmla="val 50000"/>
            </a:avLst>
          </a:prstGeom>
          <a:solidFill>
            <a:srgbClr val="161C4D"/>
          </a:solidFill>
          <a:ln w="9525">
            <a:solidFill>
              <a:srgbClr val="4C6EF5"/>
            </a:solidFill>
            <a:prstDash val="solid"/>
          </a:ln>
        </p:spPr>
      </p:sp>
      <p:sp>
        <p:nvSpPr>
          <p:cNvPr id="52" name="Text 44"/>
          <p:cNvSpPr txBox="1"/>
          <p:nvPr/>
        </p:nvSpPr>
        <p:spPr>
          <a:xfrm>
            <a:off x="6965899" y="5029200"/>
            <a:ext cx="11210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/compare</a:t>
            </a:r>
            <a:endParaRPr lang="en-US" sz="1050" dirty="0"/>
          </a:p>
        </p:txBody>
      </p:sp>
      <p:sp>
        <p:nvSpPr>
          <p:cNvPr id="53" name="Shape 45"/>
          <p:cNvSpPr/>
          <p:nvPr/>
        </p:nvSpPr>
        <p:spPr>
          <a:xfrm>
            <a:off x="8251546" y="5029200"/>
            <a:ext cx="1495958" cy="365760"/>
          </a:xfrm>
          <a:prstGeom prst="roundRect">
            <a:avLst>
              <a:gd name="adj" fmla="val 50000"/>
            </a:avLst>
          </a:prstGeom>
          <a:solidFill>
            <a:srgbClr val="161C4D"/>
          </a:solidFill>
          <a:ln w="9525">
            <a:solidFill>
              <a:srgbClr val="4C6EF5"/>
            </a:solidFill>
            <a:prstDash val="solid"/>
          </a:ln>
        </p:spPr>
      </p:sp>
      <p:sp>
        <p:nvSpPr>
          <p:cNvPr id="54" name="Text 46"/>
          <p:cNvSpPr txBox="1"/>
          <p:nvPr/>
        </p:nvSpPr>
        <p:spPr>
          <a:xfrm>
            <a:off x="8251546" y="5029200"/>
            <a:ext cx="14959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/gaps/&lt;run_id&gt;</a:t>
            </a:r>
            <a:endParaRPr lang="en-US" sz="1050" dirty="0"/>
          </a:p>
        </p:txBody>
      </p:sp>
      <p:sp>
        <p:nvSpPr>
          <p:cNvPr id="55" name="Shape 47"/>
          <p:cNvSpPr/>
          <p:nvPr/>
        </p:nvSpPr>
        <p:spPr>
          <a:xfrm>
            <a:off x="9912096" y="5029200"/>
            <a:ext cx="896112" cy="365760"/>
          </a:xfrm>
          <a:prstGeom prst="roundRect">
            <a:avLst>
              <a:gd name="adj" fmla="val 50000"/>
            </a:avLst>
          </a:prstGeom>
          <a:solidFill>
            <a:srgbClr val="161C4D"/>
          </a:solidFill>
          <a:ln w="9525">
            <a:solidFill>
              <a:srgbClr val="4C6EF5"/>
            </a:solidFill>
            <a:prstDash val="solid"/>
          </a:ln>
        </p:spPr>
      </p:sp>
      <p:sp>
        <p:nvSpPr>
          <p:cNvPr id="56" name="Text 48"/>
          <p:cNvSpPr txBox="1"/>
          <p:nvPr/>
        </p:nvSpPr>
        <p:spPr>
          <a:xfrm>
            <a:off x="9912096" y="5029200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/chat</a:t>
            </a:r>
            <a:endParaRPr lang="en-US" sz="1050" dirty="0"/>
          </a:p>
        </p:txBody>
      </p:sp>
      <p:sp>
        <p:nvSpPr>
          <p:cNvPr id="57" name="Shape 49"/>
          <p:cNvSpPr/>
          <p:nvPr/>
        </p:nvSpPr>
        <p:spPr>
          <a:xfrm>
            <a:off x="548640" y="5989320"/>
            <a:ext cx="11064240" cy="0"/>
          </a:xfrm>
          <a:prstGeom prst="line">
            <a:avLst/>
          </a:prstGeom>
          <a:noFill/>
          <a:ln w="12700">
            <a:solidFill>
              <a:srgbClr val="161C4D"/>
            </a:solidFill>
            <a:prstDash val="solid"/>
          </a:ln>
        </p:spPr>
      </p:sp>
      <p:sp>
        <p:nvSpPr>
          <p:cNvPr id="58" name="Text 50"/>
          <p:cNvSpPr txBox="1"/>
          <p:nvPr/>
        </p:nvSpPr>
        <p:spPr>
          <a:xfrm>
            <a:off x="548640" y="610819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flask flask-cors python-dotenv ollama pymupdf python-docx groq pydantic   →   python server.py</a:t>
            </a:r>
            <a:endParaRPr lang="en-US" sz="1150" dirty="0"/>
          </a:p>
        </p:txBody>
      </p:sp>
      <p:sp>
        <p:nvSpPr>
          <p:cNvPr id="59" name="Text 51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&amp; Demo</a:t>
            </a:r>
            <a:endParaRPr lang="en-US" sz="900" dirty="0"/>
          </a:p>
        </p:txBody>
      </p:sp>
      <p:sp>
        <p:nvSpPr>
          <p:cNvPr id="60" name="Text 52"/>
          <p:cNvSpPr/>
          <p:nvPr/>
        </p:nvSpPr>
        <p:spPr>
          <a:xfrm>
            <a:off x="6702552" y="65105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Core  ·  XO38_AG02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2026-09-10T02:50:26Z</dcterms:created>
  <dcterms:modified xsi:type="dcterms:W3CDTF">2026-09-10T02:50:26Z</dcterms:modified>
</cp:coreProperties>
</file>